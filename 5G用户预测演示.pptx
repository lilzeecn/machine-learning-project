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943600" cy="5943600"/>
          </a:xfrm>
          <a:prstGeom prst="ellipse">
            <a:avLst/>
          </a:prstGeom>
          <a:solidFill>
            <a:srgbClr val="2A5278"/>
          </a:solidFill>
          <a:ln/>
        </p:spPr>
      </p:sp>
      <p:sp>
        <p:nvSpPr>
          <p:cNvPr id="3" name="Shape 1"/>
          <p:cNvSpPr/>
          <p:nvPr/>
        </p:nvSpPr>
        <p:spPr>
          <a:xfrm>
            <a:off x="9509760" y="-457200"/>
            <a:ext cx="3931920" cy="3931920"/>
          </a:xfrm>
          <a:prstGeom prst="ellipse">
            <a:avLst/>
          </a:prstGeom>
          <a:solidFill>
            <a:srgbClr val="2A5278"/>
          </a:solidFill>
          <a:ln/>
        </p:spPr>
      </p:sp>
      <p:sp>
        <p:nvSpPr>
          <p:cNvPr id="4" name="Shape 2"/>
          <p:cNvSpPr/>
          <p:nvPr/>
        </p:nvSpPr>
        <p:spPr>
          <a:xfrm>
            <a:off x="10424160" y="457200"/>
            <a:ext cx="2103120" cy="21031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822960"/>
            <a:ext cx="2286000" cy="384048"/>
          </a:xfrm>
          <a:prstGeom prst="roundRect">
            <a:avLst>
              <a:gd name="adj" fmla="val 19048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822960"/>
            <a:ext cx="22860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机器学习课程项目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22860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CADCFC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基于机器学习的</a:t>
            </a:r>
            <a:endParaRPr lang="en-US" sz="4000" dirty="0"/>
          </a:p>
        </p:txBody>
      </p:sp>
      <p:sp>
        <p:nvSpPr>
          <p:cNvPr id="8" name="Text 6"/>
          <p:cNvSpPr/>
          <p:nvPr/>
        </p:nvSpPr>
        <p:spPr>
          <a:xfrm>
            <a:off x="749808" y="2926080"/>
            <a:ext cx="91440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5G 用户预测</a:t>
            </a:r>
            <a:endParaRPr lang="en-US" sz="7200" dirty="0"/>
          </a:p>
        </p:txBody>
      </p:sp>
      <p:sp>
        <p:nvSpPr>
          <p:cNvPr id="9" name="Text 7"/>
          <p:cNvSpPr/>
          <p:nvPr/>
        </p:nvSpPr>
        <p:spPr>
          <a:xfrm>
            <a:off x="777240" y="42519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面向类别极度不平衡场景的二分类建模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77240" y="521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800,000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77240" y="5779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样本量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520440" y="521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1.32%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3520440" y="5779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用户占比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263640" y="5212080"/>
            <a:ext cx="25603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263640" y="5779008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 AUC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77240" y="6355080"/>
            <a:ext cx="10607040" cy="0"/>
          </a:xfrm>
          <a:prstGeom prst="line">
            <a:avLst/>
          </a:prstGeom>
          <a:noFill/>
          <a:ln w="12700">
            <a:solidFill>
              <a:srgbClr val="3A5A7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641908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人工智能小组作业  ·  演示汇报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/  任务背景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我们要解决什么问题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600200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业务动机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65960"/>
            <a:ext cx="51206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电信运营商希望从海量用户中精准识别「潜在 5G 用户」，从而开展定向营销、提升 5G 渗透率，降低获客成本。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77240" y="320040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3200400"/>
            <a:ext cx="1691640" cy="4572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输入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58 个匿名特征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4297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个类别 cat_*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 个数值 num_*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id 标识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606040" y="320040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606040" y="3200400"/>
            <a:ext cx="1691640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260604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输出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2697480" y="37490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是否 5G 用户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2697480" y="4297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1 (5G)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= 0 (非5G)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434840" y="3200400"/>
            <a:ext cx="1691640" cy="2286000"/>
          </a:xfrm>
          <a:prstGeom prst="roundRect">
            <a:avLst>
              <a:gd name="adj" fmla="val 5405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34840" y="3200400"/>
            <a:ext cx="1691640" cy="45720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20" name="Text 18"/>
          <p:cNvSpPr/>
          <p:nvPr/>
        </p:nvSpPr>
        <p:spPr>
          <a:xfrm>
            <a:off x="4434840" y="3200400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类型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26280" y="3749040"/>
            <a:ext cx="1508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二分类监督学习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526280" y="4297680"/>
            <a:ext cx="1508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有标签训练</a:t>
            </a:r>
            <a:endParaRPr lang="en-US" sz="1050" dirty="0"/>
          </a:p>
          <a:p>
            <a:pPr algn="ctr"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预测每个用户标签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92240" y="1600200"/>
            <a:ext cx="4983480" cy="3886200"/>
          </a:xfrm>
          <a:prstGeom prst="roundRect">
            <a:avLst>
              <a:gd name="adj" fmla="val 2353"/>
            </a:avLst>
          </a:prstGeom>
          <a:solidFill>
            <a:srgbClr val="1E3A5F"/>
          </a:solidFill>
          <a:ln/>
        </p:spPr>
      </p:sp>
      <p:sp>
        <p:nvSpPr>
          <p:cNvPr id="24" name="Text 22"/>
          <p:cNvSpPr/>
          <p:nvPr/>
        </p:nvSpPr>
        <p:spPr>
          <a:xfrm>
            <a:off x="6812280" y="182880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关键决策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812280" y="214884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为什么不用准确率？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6812280" y="2697480"/>
            <a:ext cx="44805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一个「全预测非 5G」的模型，准确率就有 98.7% —— 但一个 5G 用户都找不出来。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6812280" y="3749040"/>
            <a:ext cx="4480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→ 选用 AUC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812280" y="4160520"/>
            <a:ext cx="448056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衡量模型「把 5G 用户排在非 5G 前面」的排序能力，不受类别比例与阈值影响，是不平衡问题的标准指标。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/  数据概览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train.csv 长什么样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pic>
        <p:nvPicPr>
          <p:cNvPr id="6" name="Image 0" descr="assets/clean/csv_combo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554480"/>
            <a:ext cx="7040880" cy="33375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4937760"/>
            <a:ext cx="7040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train.csv 原始数据（前若干行，列名已脱敏）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7909560" y="1554480"/>
            <a:ext cx="73152" cy="9144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6"/>
          <p:cNvSpPr/>
          <p:nvPr/>
        </p:nvSpPr>
        <p:spPr>
          <a:xfrm>
            <a:off x="8092440" y="1508760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800,000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8138160" y="20848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行样本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7909560" y="2633472"/>
            <a:ext cx="73152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2" name="Text 9"/>
          <p:cNvSpPr/>
          <p:nvPr/>
        </p:nvSpPr>
        <p:spPr>
          <a:xfrm>
            <a:off x="8092440" y="2587752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60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8138160" y="3163824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字段（58特征+id+target）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7909560" y="3712464"/>
            <a:ext cx="73152" cy="9144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5" name="Text 12"/>
          <p:cNvSpPr/>
          <p:nvPr/>
        </p:nvSpPr>
        <p:spPr>
          <a:xfrm>
            <a:off x="8092440" y="3666744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8138160" y="4242816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缺失值，无需插补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7909560" y="4791456"/>
            <a:ext cx="73152" cy="91440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18" name="Text 15"/>
          <p:cNvSpPr/>
          <p:nvPr/>
        </p:nvSpPr>
        <p:spPr>
          <a:xfrm>
            <a:off x="8092440" y="4745736"/>
            <a:ext cx="3840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B854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 : 75</a:t>
            </a:r>
            <a:endParaRPr lang="en-US" sz="3000" dirty="0"/>
          </a:p>
        </p:txBody>
      </p:sp>
      <p:sp>
        <p:nvSpPr>
          <p:cNvPr id="19" name="Text 16"/>
          <p:cNvSpPr/>
          <p:nvPr/>
        </p:nvSpPr>
        <p:spPr>
          <a:xfrm>
            <a:off x="8138160" y="5321808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负/正样本比（极不平衡）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548640" y="5394960"/>
            <a:ext cx="11064240" cy="914400"/>
          </a:xfrm>
          <a:prstGeom prst="roundRect">
            <a:avLst>
              <a:gd name="adj" fmla="val 80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22960" y="54864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字段组成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822960" y="5742432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id  +  cat_0 … cat_19（20 个类别特征）  +  num_0 … num_37（38 个数值特征）  +  target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数据探索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第一个核心难点：类别极度不平衡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760720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assets/fig01_targe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22960" y="1874520"/>
            <a:ext cx="5212080" cy="31089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285232"/>
            <a:ext cx="5760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图1  目标变量分布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675120" y="160020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数据告诉我们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675120" y="20574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1E3A5F"/>
          </a:solidFill>
          <a:ln/>
        </p:spPr>
      </p:sp>
      <p:sp>
        <p:nvSpPr>
          <p:cNvPr id="11" name="Text 8"/>
          <p:cNvSpPr/>
          <p:nvPr/>
        </p:nvSpPr>
        <p:spPr>
          <a:xfrm>
            <a:off x="6675120" y="2194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789,400</a:t>
            </a:r>
            <a:endParaRPr lang="en-US" sz="2800" dirty="0"/>
          </a:p>
        </p:txBody>
      </p:sp>
      <p:sp>
        <p:nvSpPr>
          <p:cNvPr id="12" name="Text 9"/>
          <p:cNvSpPr/>
          <p:nvPr/>
        </p:nvSpPr>
        <p:spPr>
          <a:xfrm>
            <a:off x="667512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非5G（98.68%）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9098280" y="2057400"/>
            <a:ext cx="2331720" cy="1371600"/>
          </a:xfrm>
          <a:prstGeom prst="roundRect">
            <a:avLst>
              <a:gd name="adj" fmla="val 5333"/>
            </a:avLst>
          </a:prstGeom>
          <a:solidFill>
            <a:srgbClr val="B85450"/>
          </a:solidFill>
          <a:ln/>
        </p:spPr>
      </p:sp>
      <p:sp>
        <p:nvSpPr>
          <p:cNvPr id="14" name="Text 11"/>
          <p:cNvSpPr/>
          <p:nvPr/>
        </p:nvSpPr>
        <p:spPr>
          <a:xfrm>
            <a:off x="9098280" y="2194560"/>
            <a:ext cx="2331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10,600</a:t>
            </a:r>
            <a:endParaRPr lang="en-US" sz="2800" dirty="0"/>
          </a:p>
        </p:txBody>
      </p:sp>
      <p:sp>
        <p:nvSpPr>
          <p:cNvPr id="15" name="Text 12"/>
          <p:cNvSpPr/>
          <p:nvPr/>
        </p:nvSpPr>
        <p:spPr>
          <a:xfrm>
            <a:off x="9098280" y="288036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E5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5G用户（1.32%）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6675120" y="3657600"/>
            <a:ext cx="4754880" cy="1600200"/>
          </a:xfrm>
          <a:prstGeom prst="roundRect">
            <a:avLst>
              <a:gd name="adj" fmla="val 4571"/>
            </a:avLst>
          </a:prstGeom>
          <a:solidFill>
            <a:srgbClr val="EAF0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903720" y="3794760"/>
            <a:ext cx="42976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对建模的影响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903720" y="406908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必须用 AUC，准确率会被多数类淹没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训练时需引入类别加权</a:t>
            </a:r>
            <a:endParaRPr lang="en-US" sz="125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2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分层抽样保证各折正样本比例</a:t>
            </a:r>
            <a:endParaRPr lang="en-US" sz="1250" dirty="0"/>
          </a:p>
        </p:txBody>
      </p:sp>
      <p:sp>
        <p:nvSpPr>
          <p:cNvPr id="19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/  数据探索 EDA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第二个洞察：线性信号很弱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577840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assets/fig02_cor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828800"/>
            <a:ext cx="5120640" cy="32004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285232"/>
            <a:ext cx="5577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图2  数值特征与 target 相关性 Top15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355080" y="1600200"/>
            <a:ext cx="5303520" cy="3657600"/>
          </a:xfrm>
          <a:prstGeom prst="roundRect">
            <a:avLst>
              <a:gd name="adj" fmla="val 20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0" name="Image 1" descr="assets/fig03_dist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537960" y="1828800"/>
            <a:ext cx="4937760" cy="32004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355080" y="5285232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图3  重要数值特征在两类下的分布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548640" y="5623560"/>
            <a:ext cx="11064240" cy="685800"/>
          </a:xfrm>
          <a:prstGeom prst="roundRect">
            <a:avLst>
              <a:gd name="adj" fmla="val 10667"/>
            </a:avLst>
          </a:prstGeom>
          <a:solidFill>
            <a:srgbClr val="1E3A5F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5623560"/>
            <a:ext cx="91440" cy="6858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4" name="Text 10"/>
          <p:cNvSpPr/>
          <p:nvPr/>
        </p:nvSpPr>
        <p:spPr>
          <a:xfrm>
            <a:off x="822960" y="5623560"/>
            <a:ext cx="106984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最高相关性仅 0.12（num_37） → 特征与标签的线性关系很弱，判别信息藏在「非线性组合」里 → 需要树模型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16" name="Text 12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/  方法与流程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如何科学地划分数据、评估模型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508760"/>
            <a:ext cx="6217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数据划分代码（solution.py）</a:t>
            </a:r>
            <a:endParaRPr lang="en-US" sz="1100" dirty="0"/>
          </a:p>
        </p:txBody>
      </p:sp>
      <p:pic>
        <p:nvPicPr>
          <p:cNvPr id="7" name="Image 0" descr="assets/clean/code_split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828800"/>
            <a:ext cx="6309360" cy="44348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903720" y="15087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四个关键设计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6903720" y="1965960"/>
            <a:ext cx="4800600" cy="96012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903720" y="1965960"/>
            <a:ext cx="73152" cy="96012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7086600" y="2084832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stratify=y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7086600" y="244144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分层抽样，保证训练/测试集正样本比例都≈1.32%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6903720" y="3044952"/>
            <a:ext cx="4800600" cy="96012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903720" y="3044952"/>
            <a:ext cx="731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5" name="Text 12"/>
          <p:cNvSpPr/>
          <p:nvPr/>
        </p:nvSpPr>
        <p:spPr>
          <a:xfrm>
            <a:off x="7086600" y="3163824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test_size=0.2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7086600" y="3520440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20%（16万条）作测试集，模拟未来未见数据</a:t>
            </a:r>
            <a:endParaRPr lang="en-US" sz="1150" dirty="0"/>
          </a:p>
        </p:txBody>
      </p:sp>
      <p:sp>
        <p:nvSpPr>
          <p:cNvPr id="17" name="Shape 14"/>
          <p:cNvSpPr/>
          <p:nvPr/>
        </p:nvSpPr>
        <p:spPr>
          <a:xfrm>
            <a:off x="6903720" y="4123944"/>
            <a:ext cx="4800600" cy="96012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4123944"/>
            <a:ext cx="73152" cy="9601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9" name="Text 16"/>
          <p:cNvSpPr/>
          <p:nvPr/>
        </p:nvSpPr>
        <p:spPr>
          <a:xfrm>
            <a:off x="7086600" y="4242816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random_state=42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7086600" y="4599432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固定随机种子，保证结果完全可复现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6903720" y="5202936"/>
            <a:ext cx="4800600" cy="960120"/>
          </a:xfrm>
          <a:prstGeom prst="roundRect">
            <a:avLst>
              <a:gd name="adj" fmla="val 6667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903720" y="5202936"/>
            <a:ext cx="73152" cy="96012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23" name="Text 20"/>
          <p:cNvSpPr/>
          <p:nvPr/>
        </p:nvSpPr>
        <p:spPr>
          <a:xfrm>
            <a:off x="7086600" y="532180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折交叉验证</a:t>
            </a:r>
            <a:endParaRPr lang="en-US" sz="1300" dirty="0"/>
          </a:p>
        </p:txBody>
      </p:sp>
      <p:sp>
        <p:nvSpPr>
          <p:cNvPr id="24" name="Text 21"/>
          <p:cNvSpPr/>
          <p:nvPr/>
        </p:nvSpPr>
        <p:spPr>
          <a:xfrm>
            <a:off x="7086600" y="5678424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训练集再分5份轮流验证，CV AUC 反映泛化稳定性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26" name="Text 23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模型设计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三种模型，递进对比：线性 → Bagging → Boosting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5448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1E3A5F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2103120"/>
            <a:ext cx="3566160" cy="2286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线性基线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Regression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777240" y="2587752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2" name="Text 10"/>
          <p:cNvSpPr/>
          <p:nvPr/>
        </p:nvSpPr>
        <p:spPr>
          <a:xfrm>
            <a:off x="1051560" y="24688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 独热编码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StandardScaler 标准化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77240" y="3364992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4" name="Text 12"/>
          <p:cNvSpPr/>
          <p:nvPr/>
        </p:nvSpPr>
        <p:spPr>
          <a:xfrm>
            <a:off x="1051560" y="32461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按类频自动加权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77240" y="4142232"/>
            <a:ext cx="146304" cy="146304"/>
          </a:xfrm>
          <a:prstGeom prst="ellipse">
            <a:avLst/>
          </a:prstGeom>
          <a:solidFill>
            <a:srgbClr val="1E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1051560" y="40233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衡量问题线性可分程度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22960" y="5074920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AUC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22960" y="5303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0.874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429768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297680" y="155448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0F766E"/>
          </a:solidFill>
          <a:ln/>
        </p:spPr>
      </p:sp>
      <p:sp>
        <p:nvSpPr>
          <p:cNvPr id="22" name="Shape 20"/>
          <p:cNvSpPr/>
          <p:nvPr/>
        </p:nvSpPr>
        <p:spPr>
          <a:xfrm>
            <a:off x="4297680" y="2103120"/>
            <a:ext cx="3566160" cy="2286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3" name="Text 21"/>
          <p:cNvSpPr/>
          <p:nvPr/>
        </p:nvSpPr>
        <p:spPr>
          <a:xfrm>
            <a:off x="448056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D6F2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Bagging 集成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48056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</a:t>
            </a:r>
            <a:endParaRPr lang="en-US" sz="1700" dirty="0"/>
          </a:p>
        </p:txBody>
      </p:sp>
      <p:sp>
        <p:nvSpPr>
          <p:cNvPr id="25" name="Shape 23"/>
          <p:cNvSpPr/>
          <p:nvPr/>
        </p:nvSpPr>
        <p:spPr>
          <a:xfrm>
            <a:off x="4526280" y="258775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4800600" y="24688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序数编码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数值特征原样传入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26280" y="336499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8" name="Text 26"/>
          <p:cNvSpPr/>
          <p:nvPr/>
        </p:nvSpPr>
        <p:spPr>
          <a:xfrm>
            <a:off x="4800600" y="32461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class_weight="balanced"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4526280" y="4142232"/>
            <a:ext cx="146304" cy="14630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4800600" y="40233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自助采样建120棵树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投票决策，抗过拟合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572000" y="5074920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AUC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4572000" y="5303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0.913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8046720" y="1554480"/>
            <a:ext cx="3566160" cy="4114800"/>
          </a:xfrm>
          <a:prstGeom prst="roundRect">
            <a:avLst>
              <a:gd name="adj" fmla="val 2564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046720" y="1554480"/>
            <a:ext cx="3566160" cy="777240"/>
          </a:xfrm>
          <a:prstGeom prst="roundRect">
            <a:avLst>
              <a:gd name="adj" fmla="val 11765"/>
            </a:avLst>
          </a:prstGeom>
          <a:solidFill>
            <a:srgbClr val="B85450"/>
          </a:solidFill>
          <a:ln/>
        </p:spPr>
      </p:sp>
      <p:sp>
        <p:nvSpPr>
          <p:cNvPr id="36" name="Shape 34"/>
          <p:cNvSpPr/>
          <p:nvPr/>
        </p:nvSpPr>
        <p:spPr>
          <a:xfrm>
            <a:off x="8046720" y="2103120"/>
            <a:ext cx="3566160" cy="22860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37" name="Text 35"/>
          <p:cNvSpPr/>
          <p:nvPr/>
        </p:nvSpPr>
        <p:spPr>
          <a:xfrm>
            <a:off x="8229600" y="162763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F6D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Boosting 集成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8229600" y="187452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</a:t>
            </a:r>
            <a:endParaRPr lang="en-US" sz="1700" dirty="0"/>
          </a:p>
        </p:txBody>
      </p:sp>
      <p:sp>
        <p:nvSpPr>
          <p:cNvPr id="39" name="Shape 37"/>
          <p:cNvSpPr/>
          <p:nvPr/>
        </p:nvSpPr>
        <p:spPr>
          <a:xfrm>
            <a:off x="8275320" y="2587752"/>
            <a:ext cx="146304" cy="146304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40" name="Text 38"/>
          <p:cNvSpPr/>
          <p:nvPr/>
        </p:nvSpPr>
        <p:spPr>
          <a:xfrm>
            <a:off x="8549640" y="246888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原生 category 类型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无需编码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275320" y="3364992"/>
            <a:ext cx="146304" cy="146304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42" name="Text 40"/>
          <p:cNvSpPr/>
          <p:nvPr/>
        </p:nvSpPr>
        <p:spPr>
          <a:xfrm>
            <a:off x="8549640" y="324612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scale_pos_weight = 74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（负/正样本比）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8275320" y="4142232"/>
            <a:ext cx="146304" cy="146304"/>
          </a:xfrm>
          <a:prstGeom prst="ellipse">
            <a:avLst/>
          </a:prstGeom>
          <a:solidFill>
            <a:srgbClr val="B85450"/>
          </a:solidFill>
          <a:ln/>
        </p:spPr>
      </p:sp>
      <p:sp>
        <p:nvSpPr>
          <p:cNvPr id="44" name="Text 42"/>
          <p:cNvSpPr/>
          <p:nvPr/>
        </p:nvSpPr>
        <p:spPr>
          <a:xfrm>
            <a:off x="8549640" y="4023360"/>
            <a:ext cx="28803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直方图+叶子优先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工业界表格数据主力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8321040" y="5074920"/>
            <a:ext cx="301752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21040" y="512064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 AUC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8321040" y="530352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B854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0.903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548640" y="5852160"/>
            <a:ext cx="11064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下一页：分别看每个模型的代码实现 →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模型实现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三种模型的真实代码：预处理与不平衡处理各有不同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3703320" cy="384048"/>
          </a:xfrm>
          <a:prstGeom prst="roundRect">
            <a:avLst>
              <a:gd name="adj" fmla="val 16667"/>
            </a:avLst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5544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01168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9" name="Image 0" descr="assets/clean/code_l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30352" y="2084832"/>
            <a:ext cx="3557016" cy="3054096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370832" y="1554480"/>
            <a:ext cx="3703320" cy="384048"/>
          </a:xfrm>
          <a:prstGeom prst="roundRect">
            <a:avLst>
              <a:gd name="adj" fmla="val 16667"/>
            </a:avLst>
          </a:prstGeom>
          <a:solidFill>
            <a:srgbClr val="0F766E"/>
          </a:solidFill>
          <a:ln/>
        </p:spPr>
      </p:sp>
      <p:sp>
        <p:nvSpPr>
          <p:cNvPr id="11" name="Text 8"/>
          <p:cNvSpPr/>
          <p:nvPr/>
        </p:nvSpPr>
        <p:spPr>
          <a:xfrm>
            <a:off x="4370832" y="15544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4370832" y="201168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3" name="Image 1" descr="assets/clean/code_rf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43984" y="2084832"/>
            <a:ext cx="3557016" cy="3054096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8284464" y="1554480"/>
            <a:ext cx="3703320" cy="384048"/>
          </a:xfrm>
          <a:prstGeom prst="roundRect">
            <a:avLst>
              <a:gd name="adj" fmla="val 16667"/>
            </a:avLst>
          </a:prstGeom>
          <a:solidFill>
            <a:srgbClr val="B85450"/>
          </a:solidFill>
          <a:ln/>
        </p:spPr>
      </p:sp>
      <p:sp>
        <p:nvSpPr>
          <p:cNvPr id="15" name="Text 11"/>
          <p:cNvSpPr/>
          <p:nvPr/>
        </p:nvSpPr>
        <p:spPr>
          <a:xfrm>
            <a:off x="8284464" y="1554480"/>
            <a:ext cx="37033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8284464" y="2011680"/>
            <a:ext cx="370332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7" name="Image 2" descr="assets/clean/code_lgb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57616" y="2084832"/>
            <a:ext cx="3557016" cy="3054096"/>
          </a:xfrm>
          <a:prstGeom prst="rect">
            <a:avLst/>
          </a:prstGeom>
        </p:spPr>
      </p:pic>
      <p:sp>
        <p:nvSpPr>
          <p:cNvPr id="18" name="Shape 13"/>
          <p:cNvSpPr/>
          <p:nvPr/>
        </p:nvSpPr>
        <p:spPr>
          <a:xfrm>
            <a:off x="457200" y="5440680"/>
            <a:ext cx="11247120" cy="868680"/>
          </a:xfrm>
          <a:prstGeom prst="roundRect">
            <a:avLst>
              <a:gd name="adj" fmla="val 8421"/>
            </a:avLst>
          </a:prstGeom>
          <a:solidFill>
            <a:srgbClr val="EAF0F6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4"/>
          <p:cNvSpPr/>
          <p:nvPr/>
        </p:nvSpPr>
        <p:spPr>
          <a:xfrm>
            <a:off x="731520" y="553212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核心差异</a:t>
            </a:r>
            <a:endParaRPr lang="en-US" sz="1000" dirty="0"/>
          </a:p>
        </p:txBody>
      </p:sp>
      <p:sp>
        <p:nvSpPr>
          <p:cNvPr id="20" name="Text 15"/>
          <p:cNvSpPr/>
          <p:nvPr/>
        </p:nvSpPr>
        <p:spPr>
          <a:xfrm>
            <a:off x="731520" y="5760720"/>
            <a:ext cx="10698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LR：独热+标准化，class_weight 加权   ·   RF：序数编码，class_weight 加权   ·   LGB：原生 category，scale_pos_weight=74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模型处理详解  ①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Regression  逻辑回归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定位：线性基线模型，衡量问题的线性可分程度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548640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预处理：独热编码 + 标准化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OneHotEncoder 独热编码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8254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类别特征拆成 0/1 多列，消除虚假数值关系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StandardScaler 标准化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856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数值特征变为均值0、方差1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537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为什么必须这样做？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7914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逻辑回归是线性模型 wᵀx。若直接用 cat=3 会误以为「3 是 1 的三倍」；量纲悬殊（4千万 vs 0.003）会让大特征主导梯度，模型学不动。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194560"/>
            <a:ext cx="539496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不平衡处理：class_weight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4871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"balanced"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15468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自动按类频反比加权：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33832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权重 = 总样本数 / (类别数 × 该类样本数)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492240" y="37490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92240" y="3822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非5G 权重 ≈ 0.5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49224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（多数类，被弱化）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9052560" y="3749040"/>
            <a:ext cx="237744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 w="15240">
            <a:solidFill>
              <a:srgbClr val="B8545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052560" y="3822192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B8545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5G 权重 ≈ 37.7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9052560" y="4160520"/>
            <a:ext cx="2377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（少数类，被强化）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492240" y="466344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效果：漏掉一个 5G 用户要「亏」37 倍，逼迫模型重视正样本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1E3A5F"/>
          </a:solidFill>
          <a:ln/>
        </p:spPr>
      </p:sp>
      <p:sp>
        <p:nvSpPr>
          <p:cNvPr id="34" name="Text 32"/>
          <p:cNvSpPr/>
          <p:nvPr/>
        </p:nvSpPr>
        <p:spPr>
          <a:xfrm>
            <a:off x="777240" y="562356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一句话：线性模型对量纲和数值关系最敏感，所以预处理最重——独热消歧义、标准化拉齐量纲；不平衡交给 class_weight 自动加权。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模型处理详解  ②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Random Forest  随机森林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定位：Bagging 集成，自助采样建 120 棵树投票决策，抗噪声、不易过拟合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0F766E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5486400" cy="13716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预处理：序数编码 + 不缩放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51460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OrdinalEncoder 序数编码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22960" y="282549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类别直接映射成整数 {0,1,2,…}，只一列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474720"/>
            <a:ext cx="4937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passthrough 数值不处理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822960" y="3785616"/>
            <a:ext cx="493776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数值特征原样传入，不标准化、不归一化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4480560"/>
            <a:ext cx="493776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15240">
            <a:solidFill>
              <a:srgbClr val="0F766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55371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为什么能这样做？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1005840" y="4791456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决策树靠「阈值切分」（如 cat ≤ 2 走左）找规律，只比较大小，不关心数值是否「真的」成倍。所以量纲不影响，序数编码够用且更省内存。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B85450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194560"/>
            <a:ext cx="5394960" cy="13716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不平衡处理：class_weight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4871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class_weight = "balanced"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15468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与逻辑回归同属 sklearn 家族，参数接口统一：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345643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同样按类频反比自动加权，5G 权重升至约 37 倍。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492240" y="3931920"/>
            <a:ext cx="4937760" cy="13258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75120" y="40233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🌳 随机森林额外的抗不平衡能力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675120" y="431596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Bootstrap 自助采样时，每个正样本被抽中的机会增加；120 棵树投票还能进一步稀释单棵树的偏差——所以树模型对不平衡天然更鲁棒。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0F766E"/>
          </a:solidFill>
          <a:ln/>
        </p:spPr>
      </p:sp>
      <p:sp>
        <p:nvSpPr>
          <p:cNvPr id="30" name="Text 28"/>
          <p:cNvSpPr/>
          <p:nvPr/>
        </p:nvSpPr>
        <p:spPr>
          <a:xfrm>
            <a:off x="777240" y="562356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一句话：树模型只看阈值切分，对量纲免疫——序数编码够用、数值不用管；不平衡靠 class_weight + Bootstrap 采样双保险。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/  模型处理详解  ③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LightGBM  梯度提升树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3716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定位：Boosting 集成，串行拟合残差，工业界表格数据主力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828800"/>
            <a:ext cx="5486400" cy="36576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1828800"/>
            <a:ext cx="5486400" cy="502920"/>
          </a:xfrm>
          <a:prstGeom prst="roundRect">
            <a:avLst>
              <a:gd name="adj" fmla="val 18182"/>
            </a:avLst>
          </a:prstGeom>
          <a:solidFill>
            <a:srgbClr val="B85450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194560"/>
            <a:ext cx="5486400" cy="137160"/>
          </a:xfrm>
          <a:prstGeom prst="rect">
            <a:avLst/>
          </a:prstGeom>
          <a:solidFill>
            <a:srgbClr val="B85450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预处理：原生 category（最省事）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22960" y="24871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操作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22960" y="2715768"/>
            <a:ext cx="5029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df[col] = df[col].astype("category")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22960" y="3090672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只声明类型，不做任何编码转换。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22960" y="3520440"/>
            <a:ext cx="4937760" cy="128016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5240">
            <a:solidFill>
              <a:srgbClr val="B854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05840" y="3593592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为什么这是最优解？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05840" y="3849624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LightGBM 内部用「Fisher 最优切分」算法，自动找出类别怎么分组最优（如 {1,4} 一组、{2,3,5} 一组），不强行施加顺序。比独热省内存、比序数更准。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822960" y="48920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i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比随机森林的序数编码更优，是它最大的便利之处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63640" y="1828800"/>
            <a:ext cx="5394960" cy="3657600"/>
          </a:xfrm>
          <a:prstGeom prst="roundRect">
            <a:avLst>
              <a:gd name="adj" fmla="val 2500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63640" y="1828800"/>
            <a:ext cx="5394960" cy="502920"/>
          </a:xfrm>
          <a:prstGeom prst="roundRect">
            <a:avLst>
              <a:gd name="adj" fmla="val 18182"/>
            </a:avLst>
          </a:prstGeom>
          <a:solidFill>
            <a:srgbClr val="1E3A5F"/>
          </a:solidFill>
          <a:ln/>
        </p:spPr>
      </p:sp>
      <p:sp>
        <p:nvSpPr>
          <p:cNvPr id="20" name="Shape 18"/>
          <p:cNvSpPr/>
          <p:nvPr/>
        </p:nvSpPr>
        <p:spPr>
          <a:xfrm>
            <a:off x="6263640" y="2194560"/>
            <a:ext cx="5394960" cy="1371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1874520"/>
            <a:ext cx="5029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不平衡处理：scale_pos_weight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492240" y="2487168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参数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492240" y="2715768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scale_pos_weight = 74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92240" y="3200400"/>
            <a:ext cx="49377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计算方式：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92240" y="34290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负样本数 / 正样本数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92240" y="370332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B854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789,400 / 10,600 ≈ 74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492240" y="399592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（正是数据概览页那个 1 : 75 的比例）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92240" y="4389120"/>
            <a:ext cx="4937760" cy="9144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240">
            <a:solidFill>
              <a:srgbClr val="1E3A5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75120" y="446227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与 class_weight 本质相同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675120" y="4718304"/>
            <a:ext cx="45720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都是代价敏感学习，给正样本加权。区别：LightGBM 非 sklearn 亲生，用自己原生的 scale_pos_weight，是官方推荐的不平衡处理方式。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548640" y="5623560"/>
            <a:ext cx="11064240" cy="658368"/>
          </a:xfrm>
          <a:prstGeom prst="roundRect">
            <a:avLst>
              <a:gd name="adj" fmla="val 11111"/>
            </a:avLst>
          </a:prstGeom>
          <a:solidFill>
            <a:srgbClr val="B85450"/>
          </a:solidFill>
          <a:ln/>
        </p:spPr>
      </p:sp>
      <p:sp>
        <p:nvSpPr>
          <p:cNvPr id="32" name="Text 30"/>
          <p:cNvSpPr/>
          <p:nvPr/>
        </p:nvSpPr>
        <p:spPr>
          <a:xfrm>
            <a:off x="777240" y="562356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一句话：原生 category 让它免编码且切分更优；scale_pos_weight=74 就是负正样本比，原理与 class_weight 一致，是 LightGBM 官方推荐做法。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 /  核心结果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随机森林与 LightGBM 显著胜出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481328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真实运行输出（python solution.py）</a:t>
            </a:r>
            <a:endParaRPr lang="en-US" sz="1100" dirty="0"/>
          </a:p>
        </p:txBody>
      </p:sp>
      <p:pic>
        <p:nvPicPr>
          <p:cNvPr id="7" name="Image 0" descr="assets/clean/terminal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02920" y="1783080"/>
            <a:ext cx="5623560" cy="2514600"/>
          </a:xfrm>
          <a:prstGeom prst="rect">
            <a:avLst/>
          </a:prstGeom>
        </p:spPr>
      </p:pic>
      <p:pic>
        <p:nvPicPr>
          <p:cNvPr id="8" name="Image 1" descr="assets/clean/result_table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02920" y="4389120"/>
            <a:ext cx="5623560" cy="141732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0" y="1481328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测试集 ROC 曲线与 CV AUC 对比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6355080" y="1783080"/>
            <a:ext cx="5349240" cy="3200400"/>
          </a:xfrm>
          <a:prstGeom prst="roundRect">
            <a:avLst>
              <a:gd name="adj" fmla="val 2286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2" descr="assets/fig04_compare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492240" y="1920240"/>
            <a:ext cx="5074920" cy="292608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6355080" y="5120640"/>
            <a:ext cx="5349240" cy="1097280"/>
          </a:xfrm>
          <a:prstGeom prst="roundRect">
            <a:avLst>
              <a:gd name="adj" fmla="val 6667"/>
            </a:avLst>
          </a:prstGeom>
          <a:solidFill>
            <a:srgbClr val="1E3A5F"/>
          </a:solidFill>
          <a:ln/>
        </p:spPr>
      </p:sp>
      <p:sp>
        <p:nvSpPr>
          <p:cNvPr id="13" name="Text 8"/>
          <p:cNvSpPr/>
          <p:nvPr/>
        </p:nvSpPr>
        <p:spPr>
          <a:xfrm>
            <a:off x="6583680" y="5212080"/>
            <a:ext cx="493776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树模型 AUC ≈ 0.91，远胜逻辑回归 0.87 → 印证「非线性」判断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CV AUC 与测试 AUC 高度一致 → 泛化稳定</a:t>
            </a:r>
            <a:endParaRPr lang="en-US" sz="1150" dirty="0"/>
          </a:p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树模型 AP（≈0.14）是 LR（0.087）的 1.6 倍 → 正类识别更强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109728" cy="566928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" y="457200"/>
            <a:ext cx="9144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 /  特征洞察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58952" y="713232"/>
            <a:ext cx="10972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3A5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哪些特征决定了用户是不是 5G 用户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77240" y="1298448"/>
            <a:ext cx="109728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600200"/>
            <a:ext cx="5486400" cy="4023360"/>
          </a:xfrm>
          <a:prstGeom prst="roundRect">
            <a:avLst>
              <a:gd name="adj" fmla="val 1818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7" name="Image 0" descr="assets/fig06_importance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" y="1783080"/>
            <a:ext cx="5029200" cy="36576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48640" y="565099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图5  LightGBM 特征重要性 Top20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7680960" y="1554480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不平衡场景下，PR 曲线比 ROC 更重要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8229600" y="1874520"/>
            <a:ext cx="3474720" cy="2377440"/>
          </a:xfrm>
          <a:prstGeom prst="roundRect">
            <a:avLst>
              <a:gd name="adj" fmla="val 3077"/>
            </a:avLst>
          </a:prstGeom>
          <a:solidFill>
            <a:srgbClr val="F4F7FA"/>
          </a:solidFill>
          <a:ln w="12700">
            <a:solidFill>
              <a:srgbClr val="CBD5E1"/>
            </a:solidFill>
            <a:prstDash val="solid"/>
          </a:ln>
        </p:spPr>
      </p:sp>
      <p:pic>
        <p:nvPicPr>
          <p:cNvPr id="11" name="Image 1" descr="assets/fig05_p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366760" y="2011680"/>
            <a:ext cx="3200400" cy="21031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355080" y="4315968"/>
            <a:ext cx="53492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图6  测试集 PR 曲线（AP）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355080" y="438912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0F766E"/>
          </a:solidFill>
          <a:ln/>
        </p:spPr>
      </p:sp>
      <p:sp>
        <p:nvSpPr>
          <p:cNvPr id="14" name="Text 10"/>
          <p:cNvSpPr/>
          <p:nvPr/>
        </p:nvSpPr>
        <p:spPr>
          <a:xfrm>
            <a:off x="6583680" y="4498848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B6E4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业务解读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583680" y="4754880"/>
            <a:ext cx="49377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模型最看重 cat_1、cat_0（高基数类别，推测为地区/套餐类）与 num_3。注意：线性相关性最高的 num_37 并非模型首选——树模型能挖出 cat_1 的非线性交互，这正是它优于逻辑回归之处。</a:t>
            </a:r>
            <a:endParaRPr lang="en-US" sz="115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5G 用户预测  ·  机器学习课程项目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0789920" y="6473952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3657600" cy="3657600"/>
          </a:xfrm>
          <a:prstGeom prst="ellipse">
            <a:avLst/>
          </a:prstGeom>
          <a:solidFill>
            <a:srgbClr val="2A5278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-1371600"/>
            <a:ext cx="3657600" cy="3657600"/>
          </a:xfrm>
          <a:prstGeom prst="ellipse">
            <a:avLst/>
          </a:prstGeom>
          <a:solidFill>
            <a:srgbClr val="2A5278"/>
          </a:solidFill>
          <a:ln/>
        </p:spPr>
      </p:sp>
      <p:sp>
        <p:nvSpPr>
          <p:cNvPr id="4" name="Shape 2"/>
          <p:cNvSpPr/>
          <p:nvPr/>
        </p:nvSpPr>
        <p:spPr>
          <a:xfrm>
            <a:off x="777240" y="685800"/>
            <a:ext cx="109728" cy="45720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5" name="Text 3"/>
          <p:cNvSpPr/>
          <p:nvPr/>
        </p:nvSpPr>
        <p:spPr>
          <a:xfrm>
            <a:off x="960120" y="6400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核心结论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60120" y="123444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树模型有效解决了这个非线性、不平衡的 5G 用户预测问题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777240" y="182880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2A5278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" y="1828800"/>
            <a:ext cx="91440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94767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树模型胜出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97280" y="2286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随机森林与 LightGBM 均达 AUC ≈ 0.91，显著优于线性基线 0.87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777240" y="288036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2A5278"/>
          </a:solidFill>
          <a:ln/>
        </p:spPr>
      </p:sp>
      <p:sp>
        <p:nvSpPr>
          <p:cNvPr id="12" name="Shape 10"/>
          <p:cNvSpPr/>
          <p:nvPr/>
        </p:nvSpPr>
        <p:spPr>
          <a:xfrm>
            <a:off x="777240" y="2880360"/>
            <a:ext cx="91440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1097280" y="299923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 验证判断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097280" y="333756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在弱线性、强非线性、极不平衡场景下，Bagging 与 Boosting 集成方法确实有效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777240" y="3931920"/>
            <a:ext cx="10607040" cy="868680"/>
          </a:xfrm>
          <a:prstGeom prst="roundRect">
            <a:avLst>
              <a:gd name="adj" fmla="val 7368"/>
            </a:avLst>
          </a:prstGeom>
          <a:solidFill>
            <a:srgbClr val="2A5278"/>
          </a:solidFill>
          <a:ln/>
        </p:spPr>
      </p:sp>
      <p:sp>
        <p:nvSpPr>
          <p:cNvPr id="16" name="Shape 14"/>
          <p:cNvSpPr/>
          <p:nvPr/>
        </p:nvSpPr>
        <p:spPr>
          <a:xfrm>
            <a:off x="777240" y="3931920"/>
            <a:ext cx="91440" cy="868680"/>
          </a:xfrm>
          <a:prstGeom prst="rect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97280" y="4050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③ 可解释性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097280" y="4389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关键特征为 cat_1/cat_0（地区/套餐类），树模型挖出的非线性信号优于线性直觉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777240" y="5212080"/>
            <a:ext cx="10607040" cy="731520"/>
          </a:xfrm>
          <a:prstGeom prst="roundRect">
            <a:avLst>
              <a:gd name="adj" fmla="val 10000"/>
            </a:avLst>
          </a:prstGeom>
          <a:solidFill>
            <a:srgbClr val="15304E"/>
          </a:solidFill>
          <a:ln w="12700">
            <a:solidFill>
              <a:srgbClr val="3A5A7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77240" y="5303520"/>
            <a:ext cx="3538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0.9132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777240" y="5687568"/>
            <a:ext cx="3538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最优 AUC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315968" y="5303520"/>
            <a:ext cx="3538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冠军模型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4315968" y="5687568"/>
            <a:ext cx="3538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随机森林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854696" y="5303520"/>
            <a:ext cx="35387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1.6 倍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7854696" y="5687568"/>
            <a:ext cx="3538728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EC5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 提升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777240" y="6172200"/>
            <a:ext cx="10607040" cy="0"/>
          </a:xfrm>
          <a:prstGeom prst="line">
            <a:avLst/>
          </a:prstGeom>
          <a:noFill/>
          <a:ln w="12700">
            <a:solidFill>
              <a:srgbClr val="3A5A7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777240" y="6309360"/>
            <a:ext cx="10607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感谢聆听  ·  欢迎提问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5G用户预测小组</dc:creator>
  <cp:lastModifiedBy>5G用户预测小组</cp:lastModifiedBy>
  <cp:revision>1</cp:revision>
  <dcterms:created xsi:type="dcterms:W3CDTF">2026-06-21T07:08:53Z</dcterms:created>
  <dcterms:modified xsi:type="dcterms:W3CDTF">2026-06-21T07:08:53Z</dcterms:modified>
</cp:coreProperties>
</file>